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95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กล่าวแนะนำหัวข้อโครงงานและวัตถุประสงค์หลักของระบบ
อธิบายว่าระบบพัฒนาเพื่อเพิ่มความสะดวก รวดเร็ว และความโปร่งใสในการให้บริการประชาชน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อธิบายระบบเดิมที่ทำให้ประชาชนและเจ้าหน้าที่ติดตามข้อมูลได้ยาก
เชื่อมโยงแนวทางแก้ไขด้วยระบบคำร้องออนไลน์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อธิบายวัตถุประสงค์หลักทั้งด้านประชาชนและเจ้าหน้าที่
เน้นว่าเลขติดตามช่วยทำให้การตรวจสอบสถานะมีหลักฐานชัดเจน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อธิบายการแบ่งผู้ใช้เป็นประชาชน เจ้าหน้าที่ และผู้ดูแลระบบ
ระบบครอบคลุมตั้งแต่รับคำร้อง จัดการคำร้อง จนถึงตรวจสอบภาพรวม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อธิบายการเชื่อมต่อระหว่าง Client, Application Layer, Data Access และ Storage
ชี้ว่า SQLite เหมาะกับต้นแบบ และสามารถย้ายฐานข้อมูลได้เมื่อใช้งานระดับองค์กร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อธิบายขั้นตอนหลักของระบบในมุมประชาชนและเจ้าหน้าที่
เน้น Status History เพื่อความโปร่งใสและการตรวจสอบย้อนหลัง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นำเสนอหน้าจอสำคัญ ได้แก่ ยื่นคำร้อง ตรวจสอบสถานะ Dashboard รายการคำร้อง และจัดการหมวดหมู่
เน้น UI ที่เรียบง่ายและรองรับผู้ใช้หลายบทบาท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สรุปผลทดสอบทั้งหมด 10 กรณี ผ่าน 10 กรณี คิดเป็น 100%
อธิบายว่าทดสอบด้วย Playwright เพื่อให้ผลทำซ้ำได้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สรุปผลการพัฒนาและประโยชน์ที่เกิดขึ้น
ชี้ว่าระบบช่วยทั้งด้านการให้บริการประชาชนและการจัดการภายในหน่วยงาน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เปิดโอกาสให้อาจารย์หรือผู้ฟังสอบถามเพิ่มเติม
เตรียมอธิบาย Workflow, Database, Testing และการต่อยอดระบบ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13258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การพัฒนาระบบบริหารจัดการคำร้องออนไลน์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21792" y="2468880"/>
            <a:ext cx="5212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เพื่อเพิ่มประสิทธิภาพการให้บริการประชาชน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ของเทศบาลตำบลด่านทับตะโก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1792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ปีการศึกษา 2569</a:t>
            </a:r>
            <a:endParaRPr lang="en-US" sz="1300" dirty="0"/>
          </a:p>
        </p:txBody>
      </p:sp>
      <p:pic>
        <p:nvPicPr>
          <p:cNvPr id="6" name="Image 0" descr="/mnt/data/01-home.png"/>
          <p:cNvPicPr>
            <a:picLocks noChangeAspect="1"/>
          </p:cNvPicPr>
          <p:nvPr/>
        </p:nvPicPr>
        <p:blipFill>
          <a:blip r:embed="rId3"/>
          <a:srcRect l="16261" r="16261"/>
          <a:stretch/>
        </p:blipFill>
        <p:spPr>
          <a:xfrm>
            <a:off x="5989320" y="685800"/>
            <a:ext cx="5577840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685800"/>
            <a:ext cx="5577840" cy="5166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8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ความเป็นมาและปัญหา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ปัญหาหลักของการรับเรื่องแบบเดิม และแนวทางแก้ไขด้วยระบบกลาง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5C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ประเด็นปัญหา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830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การแจ้งปัญหายังพึ่งพาเอกสารกระดาษ</a:t>
            </a:r>
            <a:endParaRPr lang="en-US" sz="1380" dirty="0"/>
          </a:p>
        </p:txBody>
      </p:sp>
      <p:sp>
        <p:nvSpPr>
          <p:cNvPr id="7" name="Shape 5"/>
          <p:cNvSpPr/>
          <p:nvPr/>
        </p:nvSpPr>
        <p:spPr>
          <a:xfrm>
            <a:off x="713232" y="229514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219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ประชาชนติดตามสถานะได้ยาก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713232" y="2734056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6609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ข้อมูลกระจัดกระจาย ตรวจสอบย้อนหลังลำบาก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713232" y="3172968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0998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เจ้าหน้าที่ต้องประสานงานหลายขั้นตอน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713232" y="3611880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5387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ขาดระบบกลางสำหรับบริหารจัดการคำร้อง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5925312" y="1280160"/>
            <a:ext cx="0" cy="43891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5C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แนวทางแก้ไข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185623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783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พัฒนา Web Application สำหรับยื่นคำร้อง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6355080" y="229514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2219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ออกเลขติดตามคำร้องอัตโนมัติ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6355080" y="2734056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66090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รองรับการติดตามสถานะแบบต่อเนื่อง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6355080" y="3172968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0998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จัดเก็บข้อมูลและประวัติสถานะอย่างเป็นระบบ</a:t>
            </a:r>
            <a:endParaRPr lang="en-US" sz="1380" dirty="0"/>
          </a:p>
        </p:txBody>
      </p:sp>
      <p:pic>
        <p:nvPicPr>
          <p:cNvPr id="25" name="Image 0" descr="/mnt/data/01-home.png"/>
          <p:cNvPicPr>
            <a:picLocks noChangeAspect="1"/>
          </p:cNvPicPr>
          <p:nvPr/>
        </p:nvPicPr>
        <p:blipFill>
          <a:blip r:embed="rId3"/>
          <a:srcRect t="15913" b="15913"/>
          <a:stretch/>
        </p:blipFill>
        <p:spPr>
          <a:xfrm>
            <a:off x="6309360" y="3794760"/>
            <a:ext cx="5257800" cy="224028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309360" y="3794760"/>
            <a:ext cx="525780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วัตถุประสงค์ของโครงงาน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เป้าหมายหลักครอบคลุมประชาชน เจ้าหน้าที่ และการประเมินความเป็นไปได้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384048" cy="384048"/>
          </a:xfrm>
          <a:prstGeom prst="rect">
            <a:avLst/>
          </a:prstGeom>
          <a:solidFill>
            <a:srgbClr val="1D5CFF"/>
          </a:solidFill>
          <a:ln>
            <a:solidFill>
              <a:srgbClr val="1D5C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61872" y="13533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พัฒนาระบบบริหารจัดการคำร้องออนไลน์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039112"/>
            <a:ext cx="384048" cy="384048"/>
          </a:xfrm>
          <a:prstGeom prst="rect">
            <a:avLst/>
          </a:prstGeom>
          <a:solidFill>
            <a:srgbClr val="1D5CFF"/>
          </a:solidFill>
          <a:ln>
            <a:solidFill>
              <a:srgbClr val="1D5C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2066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เพิ่มประสิทธิภาพการให้บริการประชาชน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752344"/>
            <a:ext cx="384048" cy="384048"/>
          </a:xfrm>
          <a:prstGeom prst="rect">
            <a:avLst/>
          </a:prstGeom>
          <a:solidFill>
            <a:srgbClr val="1D5CFF"/>
          </a:solidFill>
          <a:ln>
            <a:solidFill>
              <a:srgbClr val="1D5C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7797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ให้ประชาชนตรวจสอบสถานะคำร้องได้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465576"/>
            <a:ext cx="384048" cy="384048"/>
          </a:xfrm>
          <a:prstGeom prst="rect">
            <a:avLst/>
          </a:prstGeom>
          <a:solidFill>
            <a:srgbClr val="1D5CFF"/>
          </a:solidFill>
          <a:ln>
            <a:solidFill>
              <a:srgbClr val="1D5C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1872" y="34930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ช่วยเจ้าหน้าที่จัดการข้อมูลอย่างเป็นระบบ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4178808"/>
            <a:ext cx="384048" cy="384048"/>
          </a:xfrm>
          <a:prstGeom prst="rect">
            <a:avLst/>
          </a:prstGeom>
          <a:solidFill>
            <a:srgbClr val="1D5CFF"/>
          </a:solidFill>
          <a:ln>
            <a:solidFill>
              <a:srgbClr val="1D5C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42062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ศึกษาความเป็นไปได้ของ Web Technology ในงานบริการภาครัฐ</a:t>
            </a:r>
            <a:endParaRPr lang="en-US" sz="1450" dirty="0"/>
          </a:p>
        </p:txBody>
      </p:sp>
      <p:pic>
        <p:nvPicPr>
          <p:cNvPr id="14" name="Image 0" descr="/mnt/data/03-request-success.png"/>
          <p:cNvPicPr>
            <a:picLocks noChangeAspect="1"/>
          </p:cNvPicPr>
          <p:nvPr/>
        </p:nvPicPr>
        <p:blipFill>
          <a:blip r:embed="rId3"/>
          <a:srcRect l="13867" r="13867"/>
          <a:stretch/>
        </p:blipFill>
        <p:spPr>
          <a:xfrm>
            <a:off x="6400800" y="1078992"/>
            <a:ext cx="5074920" cy="43891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0" y="1078992"/>
            <a:ext cx="5074920" cy="4389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ขอบเขตของระบบ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ระบบแบ่งบทบาทการใช้งานเป็น 3 กลุ่มหลัก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ประชาชน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847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ยื่นคำร้องออนไลน์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2860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แนบรูปภาพประกอบ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79806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724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ตรวจสอบสถานะคำร้อง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53128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เจ้าหน้าที่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53128" y="1920240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847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เข้าสู่ระบบ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53128" y="235915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2860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จัดการคำร้อง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53128" y="279806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724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อัปเดตสถานะการดำเนินงาน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7888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ผู้ดูแลระบบ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47888" y="1920240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1847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ดูภาพรวมระบบ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47888" y="235915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6488" y="22860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จัดการหมวดหมู่คำร้อง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47888" y="279806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2724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จัดการผู้ใช้งาน</a:t>
            </a:r>
            <a:endParaRPr lang="en-US" sz="1250" dirty="0"/>
          </a:p>
        </p:txBody>
      </p:sp>
      <p:pic>
        <p:nvPicPr>
          <p:cNvPr id="25" name="Image 0" descr="/mnt/data/06-admin-dashboard.png"/>
          <p:cNvPicPr>
            <a:picLocks noChangeAspect="1"/>
          </p:cNvPicPr>
          <p:nvPr/>
        </p:nvPicPr>
        <p:blipFill>
          <a:blip r:embed="rId3"/>
          <a:srcRect t="35586" b="35586"/>
          <a:stretch/>
        </p:blipFill>
        <p:spPr>
          <a:xfrm>
            <a:off x="1005840" y="4160520"/>
            <a:ext cx="10149840" cy="18288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005840" y="4160520"/>
            <a:ext cx="1014984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สถาปัตยกรรมระบบ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โครงสร้างระบบแบบ Modern Monolithic บน Next.js App Router</a:t>
            </a:r>
            <a:endParaRPr lang="en-US" sz="1080" dirty="0"/>
          </a:p>
        </p:txBody>
      </p:sp>
      <p:pic>
        <p:nvPicPr>
          <p:cNvPr id="4" name="Image 0" descr="/mnt/data/mermaid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469" y="1298448"/>
            <a:ext cx="3139821" cy="4901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98448"/>
            <a:ext cx="5074920" cy="490118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5C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167335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600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Frontend: Next.js + React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211226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039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Backend: Next.js Route Handlers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26480" y="2551176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4780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ORM: Prisma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26480" y="2990088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9169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Database: SQLite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3429000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3558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Styling: Tailwind CSS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26480" y="386791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3794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Testing: Playwright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080760" y="4617720"/>
            <a:ext cx="5212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08192" y="4864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เหตุผลการเลือกใช้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108192" y="5257800"/>
            <a:ext cx="51206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เหมาะกับ Research Prototype เพราะพัฒนาและทดสอบได้เร็ว โครงสร้างไม่ซับซ้อน และต่อยอดฐานข้อมูลภายหลังได้</a:t>
            </a:r>
            <a:endParaRPr lang="en-US" sz="1230" dirty="0"/>
          </a:p>
        </p:txBody>
      </p:sp>
      <p:sp>
        <p:nvSpPr>
          <p:cNvPr id="22" name="Text 19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ขั้นตอนการทำงานของระบบ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ลำดับงานตั้งแต่ประชาชนยื่นคำร้องจนเจ้าหน้าที่อัปเดตสถานะ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347472" cy="347472"/>
          </a:xfrm>
          <a:prstGeom prst="rect">
            <a:avLst/>
          </a:prstGeom>
          <a:solidFill>
            <a:srgbClr val="1D5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4712" y="1243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กรอกคำร้อง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23160" y="1389888"/>
            <a:ext cx="502920" cy="0"/>
          </a:xfrm>
          <a:prstGeom prst="line">
            <a:avLst/>
          </a:prstGeom>
          <a:noFill/>
          <a:ln w="12700">
            <a:solidFill>
              <a:srgbClr val="1D5CF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26080" y="1207008"/>
            <a:ext cx="347472" cy="347472"/>
          </a:xfrm>
          <a:prstGeom prst="rect">
            <a:avLst/>
          </a:prstGeom>
          <a:solidFill>
            <a:srgbClr val="1D5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64992" y="1243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ออกเลขติดตาม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502920" cy="0"/>
          </a:xfrm>
          <a:prstGeom prst="line">
            <a:avLst/>
          </a:prstGeom>
          <a:noFill/>
          <a:ln w="12700">
            <a:solidFill>
              <a:srgbClr val="1D5C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66360" y="1207008"/>
            <a:ext cx="347472" cy="347472"/>
          </a:xfrm>
          <a:prstGeom prst="rect">
            <a:avLst/>
          </a:prstGeom>
          <a:solidFill>
            <a:srgbClr val="1D5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05272" y="1243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เจ้าหน้าที่รับเรื่อง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1389888"/>
            <a:ext cx="502920" cy="0"/>
          </a:xfrm>
          <a:prstGeom prst="line">
            <a:avLst/>
          </a:prstGeom>
          <a:noFill/>
          <a:ln w="12700">
            <a:solidFill>
              <a:srgbClr val="1D5C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06640" y="1207008"/>
            <a:ext cx="347472" cy="347472"/>
          </a:xfrm>
          <a:prstGeom prst="rect">
            <a:avLst/>
          </a:prstGeom>
          <a:solidFill>
            <a:srgbClr val="1D5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45552" y="1243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อัปเดตสถานะ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0" y="1389888"/>
            <a:ext cx="502920" cy="0"/>
          </a:xfrm>
          <a:prstGeom prst="line">
            <a:avLst/>
          </a:prstGeom>
          <a:noFill/>
          <a:ln w="12700">
            <a:solidFill>
              <a:srgbClr val="1D5C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46920" y="1207008"/>
            <a:ext cx="347472" cy="347472"/>
          </a:xfrm>
          <a:prstGeom prst="rect">
            <a:avLst/>
          </a:prstGeom>
          <a:solidFill>
            <a:srgbClr val="1D5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85832" y="1243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ประชาชนตรวจสอบ</a:t>
            </a:r>
            <a:endParaRPr lang="en-US" sz="1150" dirty="0"/>
          </a:p>
        </p:txBody>
      </p:sp>
      <p:pic>
        <p:nvPicPr>
          <p:cNvPr id="18" name="Image 0" descr="/mnt/data/02-request-form.png"/>
          <p:cNvPicPr>
            <a:picLocks noChangeAspect="1"/>
          </p:cNvPicPr>
          <p:nvPr/>
        </p:nvPicPr>
        <p:blipFill>
          <a:blip r:embed="rId3"/>
          <a:srcRect l="9052" r="9052"/>
          <a:stretch/>
        </p:blipFill>
        <p:spPr>
          <a:xfrm>
            <a:off x="640080" y="1965960"/>
            <a:ext cx="5212080" cy="39776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" y="1965960"/>
            <a:ext cx="5212080" cy="3977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20" name="Image 1" descr="/mnt/data/08-staff-request-detail.png"/>
          <p:cNvPicPr>
            <a:picLocks noChangeAspect="1"/>
          </p:cNvPicPr>
          <p:nvPr/>
        </p:nvPicPr>
        <p:blipFill>
          <a:blip r:embed="rId4"/>
          <a:srcRect l="9052" r="9052"/>
          <a:stretch/>
        </p:blipFill>
        <p:spPr>
          <a:xfrm>
            <a:off x="6355080" y="1965960"/>
            <a:ext cx="5212080" cy="39776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355080" y="1965960"/>
            <a:ext cx="5212080" cy="3977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23" name="Text 19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ตัวอย่างหน้าจอระบบ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ภาพรวมหน้าจอสำคัญที่ใช้ในการสาธิตระบบ</a:t>
            </a:r>
            <a:endParaRPr lang="en-US" sz="1080" dirty="0"/>
          </a:p>
        </p:txBody>
      </p:sp>
      <p:pic>
        <p:nvPicPr>
          <p:cNvPr id="4" name="Image 0" descr="/mnt/data/02-request-form.png"/>
          <p:cNvPicPr>
            <a:picLocks noChangeAspect="1"/>
          </p:cNvPicPr>
          <p:nvPr/>
        </p:nvPicPr>
        <p:blipFill>
          <a:blip r:embed="rId3"/>
          <a:srcRect l="2819" r="2819"/>
          <a:stretch/>
        </p:blipFill>
        <p:spPr>
          <a:xfrm>
            <a:off x="548640" y="1170432"/>
            <a:ext cx="352044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70432"/>
            <a:ext cx="352044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6" name="Image 1" descr="/mnt/data/04-track-request.png"/>
          <p:cNvPicPr>
            <a:picLocks noChangeAspect="1"/>
          </p:cNvPicPr>
          <p:nvPr/>
        </p:nvPicPr>
        <p:blipFill>
          <a:blip r:embed="rId4"/>
          <a:srcRect l="2819" r="2819"/>
          <a:stretch/>
        </p:blipFill>
        <p:spPr>
          <a:xfrm>
            <a:off x="4343400" y="1170432"/>
            <a:ext cx="3520440" cy="2331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43400" y="1170432"/>
            <a:ext cx="352044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8" name="Image 2" descr="/mnt/data/06-admin-dashboard.png"/>
          <p:cNvPicPr>
            <a:picLocks noChangeAspect="1"/>
          </p:cNvPicPr>
          <p:nvPr/>
        </p:nvPicPr>
        <p:blipFill>
          <a:blip r:embed="rId5"/>
          <a:srcRect l="2819" r="2819"/>
          <a:stretch/>
        </p:blipFill>
        <p:spPr>
          <a:xfrm>
            <a:off x="8138160" y="1170432"/>
            <a:ext cx="3520440" cy="2331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138160" y="1170432"/>
            <a:ext cx="352044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10" name="Image 3" descr="/mnt/data/07-staff-requests.png"/>
          <p:cNvPicPr>
            <a:picLocks noChangeAspect="1"/>
          </p:cNvPicPr>
          <p:nvPr/>
        </p:nvPicPr>
        <p:blipFill>
          <a:blip r:embed="rId6"/>
          <a:srcRect t="8681" b="8681"/>
          <a:stretch/>
        </p:blipFill>
        <p:spPr>
          <a:xfrm>
            <a:off x="1600200" y="3950208"/>
            <a:ext cx="4160520" cy="214884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600200" y="3950208"/>
            <a:ext cx="41605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12" name="Image 4" descr="/mnt/data/09-admin-categories.png"/>
          <p:cNvPicPr>
            <a:picLocks noChangeAspect="1"/>
          </p:cNvPicPr>
          <p:nvPr/>
        </p:nvPicPr>
        <p:blipFill>
          <a:blip r:embed="rId7"/>
          <a:srcRect t="8681" b="8681"/>
          <a:stretch/>
        </p:blipFill>
        <p:spPr>
          <a:xfrm>
            <a:off x="6446520" y="3950208"/>
            <a:ext cx="4160520" cy="214884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446520" y="3950208"/>
            <a:ext cx="41605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15" name="Text 8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ผลการทดสอบระบบ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ทดสอบฟังก์ชันหลักด้วย Playwright ในสภาพแวดล้อมต้นแบบ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76072" y="2121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Test Cases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14600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441448" y="2121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Passed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62272" y="21214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Success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5C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หัวข้อที่ทดสอบ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419856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3467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Validation ข้อมูลและเบอร์โทร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858768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856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การยื่นคำร้องและออกเลขติดตาม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2245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การค้นหาสถานะคำร้อง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73659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634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การเข้าสู่ระบบเจ้าหน้าที่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17550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0235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การจัดการหมวดหมู่และข้อมูลคำร้อง</a:t>
            </a:r>
            <a:endParaRPr lang="en-US" sz="1300" dirty="0"/>
          </a:p>
        </p:txBody>
      </p:sp>
      <p:pic>
        <p:nvPicPr>
          <p:cNvPr id="21" name="Image 0" descr="/mnt/data/06-admin-dashboard.png"/>
          <p:cNvPicPr>
            <a:picLocks noChangeAspect="1"/>
          </p:cNvPicPr>
          <p:nvPr/>
        </p:nvPicPr>
        <p:blipFill>
          <a:blip r:embed="rId3"/>
          <a:srcRect l="12951" r="12951"/>
          <a:stretch/>
        </p:blipFill>
        <p:spPr>
          <a:xfrm>
            <a:off x="6217920" y="1143000"/>
            <a:ext cx="5257800" cy="44348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217920" y="1143000"/>
            <a:ext cx="525780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สรุปผลและประโยชน์ที่ได้รับ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ผลลัพธ์ของระบบต้นแบบและคุณค่าต่อประชาชนและองค์กร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5C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ผลลัพธ์ของโครงงาน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67335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พัฒนาระบบต้นแบบสำเร็จ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731520" y="211226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391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ลดขั้นตอนการจัดการเอกสาร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731520" y="2551176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7802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เพิ่มความสะดวกในการติดตามคำร้อง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731520" y="2990088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16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จัดเก็บข้อมูลและประวัติอย่างเป็นระบบ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558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เพิ่มความโปร่งใสในการดำเนินงาน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635508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D5C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ประโยชน์ที่ได้รับ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673352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6002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ประชาชนเข้าถึงบริการได้สะดวกขึ้น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6400800" y="2112264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0391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เจ้าหน้าที่บริหารจัดการงานได้ง่ายขึ้น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6400800" y="2551176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4780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ผู้ดูแลระบบเห็นภาพรวมการดำเนินงาน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6400800" y="2990088"/>
            <a:ext cx="91440" cy="91440"/>
          </a:xfrm>
          <a:prstGeom prst="ellipse">
            <a:avLst/>
          </a:prstGeom>
          <a:solidFill>
            <a:srgbClr val="1D5CFF"/>
          </a:solidFill>
          <a:ln w="12700">
            <a:solidFill>
              <a:srgbClr val="1D5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91693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สามารถต่อยอดสู่ระบบใช้งานจริงได้</a:t>
            </a:r>
            <a:endParaRPr lang="en-US" sz="1340" dirty="0"/>
          </a:p>
        </p:txBody>
      </p:sp>
      <p:pic>
        <p:nvPicPr>
          <p:cNvPr id="24" name="Image 0" descr="/mnt/data/01-home.png"/>
          <p:cNvPicPr>
            <a:picLocks noChangeAspect="1"/>
          </p:cNvPicPr>
          <p:nvPr/>
        </p:nvPicPr>
        <p:blipFill>
          <a:blip r:embed="rId3"/>
          <a:srcRect t="25922" b="25922"/>
          <a:stretch/>
        </p:blipFill>
        <p:spPr>
          <a:xfrm>
            <a:off x="868680" y="4343400"/>
            <a:ext cx="4709160" cy="14173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68680" y="4343400"/>
            <a:ext cx="4709160" cy="1417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26" name="Image 1" descr="/mnt/data/06-admin-dashboard.png"/>
          <p:cNvPicPr>
            <a:picLocks noChangeAspect="1"/>
          </p:cNvPicPr>
          <p:nvPr/>
        </p:nvPicPr>
        <p:blipFill>
          <a:blip r:embed="rId4"/>
          <a:srcRect t="25922" b="25922"/>
          <a:stretch/>
        </p:blipFill>
        <p:spPr>
          <a:xfrm>
            <a:off x="6400800" y="4343400"/>
            <a:ext cx="4709160" cy="141732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400800" y="4343400"/>
            <a:ext cx="4709160" cy="1417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ระบบบริหารจัดการคำร้องออนไลน์ • เทศบาลตำบลด่านทับตะโก</a:t>
            </a:r>
            <a:endParaRPr lang="en-US" sz="680" dirty="0"/>
          </a:p>
        </p:txBody>
      </p:sp>
      <p:sp>
        <p:nvSpPr>
          <p:cNvPr id="29" name="Text 25"/>
          <p:cNvSpPr/>
          <p:nvPr/>
        </p:nvSpPr>
        <p:spPr>
          <a:xfrm>
            <a:off x="11292840" y="6455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01-home.png"/>
          <p:cNvPicPr>
            <a:picLocks noChangeAspect="1"/>
          </p:cNvPicPr>
          <p:nvPr/>
        </p:nvPicPr>
        <p:blipFill>
          <a:blip r:embed="rId3"/>
          <a:srcRect l="21175" r="21175"/>
          <a:stretch/>
        </p:blipFill>
        <p:spPr>
          <a:xfrm>
            <a:off x="6537960" y="777240"/>
            <a:ext cx="4892040" cy="5303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37960" y="777240"/>
            <a:ext cx="4892040" cy="5303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4" name="Text 1"/>
          <p:cNvSpPr/>
          <p:nvPr/>
        </p:nvSpPr>
        <p:spPr>
          <a:xfrm>
            <a:off x="822960" y="2148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Questions &amp; Answers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59536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5C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ขอบคุณครับ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38862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การพัฒนาระบบบริหารจัดการคำร้องออนไลน์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เทศบาลตำบลด่านทับตะโก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828</Words>
  <Application>Microsoft Office PowerPoint</Application>
  <PresentationFormat>แบบจอกว้าง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10</vt:i4>
      </vt:variant>
    </vt:vector>
  </HeadingPairs>
  <TitlesOfParts>
    <vt:vector size="13" baseType="lpstr">
      <vt:lpstr>Arial</vt:lpstr>
      <vt:lpstr>Noto Sans Thai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เทศบาลตำบลด่านทับตะโก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Citizen Request Management System Presentation</dc:title>
  <dc:subject>ระบบบริหารจัดการคำร้องออนไลน์ เทศบาลตำบลด่านทับตะโก</dc:subject>
  <dc:creator>ChatGPT</dc:creator>
  <cp:lastModifiedBy>St.' Anberlin</cp:lastModifiedBy>
  <cp:revision>2</cp:revision>
  <dcterms:created xsi:type="dcterms:W3CDTF">2026-05-28T12:31:24Z</dcterms:created>
  <dcterms:modified xsi:type="dcterms:W3CDTF">2026-05-28T12:36:18Z</dcterms:modified>
</cp:coreProperties>
</file>